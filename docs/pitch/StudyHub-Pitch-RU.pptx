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0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</a:t>
            </a:r>
            <a:pPr indent="0" marL="0">
              <a:buNone/>
            </a:pPr>
            <a:r>
              <a:rPr lang="en-US" sz="2000" b="1" spc="400" kern="0" dirty="0">
                <a:solidFill>
                  <a:srgbClr val="C2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914400" y="2331720"/>
            <a:ext cx="1280160" cy="0"/>
          </a:xfrm>
          <a:prstGeom prst="line">
            <a:avLst/>
          </a:prstGeom>
          <a:noFill/>
          <a:ln w="31750">
            <a:solidFill>
              <a:srgbClr val="C2A0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468880"/>
            <a:ext cx="10241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Искусственный интеллект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для учебных центров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4800600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Подготовка к ЕНТ и IELTS под брендом вашего центра.</a:t>
            </a: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Выше результаты учеников — ниже нагрузка на преподавателей.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879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ПРЕЗЕНТАЦИЯ ДЛЯ УЧЕБНЫХ ЦЕНТРОВ · КАЗАХСТАН ·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Родители платят за результат —</a:t>
            </a:r>
            <a:endParaRPr lang="en-US" sz="3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 отставание ученика становится заметным слишком поздно.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14400" y="347472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C2A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755648" y="3566160"/>
            <a:ext cx="0" cy="502920"/>
          </a:xfrm>
          <a:prstGeom prst="line">
            <a:avLst/>
          </a:prstGeom>
          <a:noFill/>
          <a:ln w="12700">
            <a:solidFill>
              <a:srgbClr val="D9D3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0" y="3474720"/>
            <a:ext cx="9326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Преподаватели тратят часы на ручную подготовку материалов и выгорают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438912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C2A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755648" y="4480560"/>
            <a:ext cx="0" cy="502920"/>
          </a:xfrm>
          <a:prstGeom prst="line">
            <a:avLst/>
          </a:prstGeom>
          <a:noFill/>
          <a:ln w="12700">
            <a:solidFill>
              <a:srgbClr val="D9D3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4389120"/>
            <a:ext cx="9326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ранней картины: кто отстаёт и по какой именно теме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14400" y="530352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C2A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1755648" y="5394960"/>
            <a:ext cx="0" cy="502920"/>
          </a:xfrm>
          <a:prstGeom prst="line">
            <a:avLst/>
          </a:prstGeom>
          <a:noFill/>
          <a:ln w="12700">
            <a:solidFill>
              <a:srgbClr val="D9D3C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0" y="5303520"/>
            <a:ext cx="9326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Сложно отстроиться от конкурирующего центра по соседству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D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8C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БЕЗДЕЙСТВИЯ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теряет центр, оставляя всё как есть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246888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2A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−25%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960120" y="3749040"/>
            <a:ext cx="2377440" cy="0"/>
          </a:xfrm>
          <a:prstGeom prst="line">
            <a:avLst/>
          </a:prstGeom>
          <a:noFill/>
          <a:ln w="12700">
            <a:solidFill>
              <a:srgbClr val="33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388620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удержание: ученики уходят, не увидев прогресса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26280" y="246888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2A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ч</a:t>
            </a:r>
            <a:endParaRPr lang="en-US" sz="6000" dirty="0"/>
          </a:p>
        </p:txBody>
      </p:sp>
      <p:sp>
        <p:nvSpPr>
          <p:cNvPr id="8" name="Shape 6"/>
          <p:cNvSpPr/>
          <p:nvPr/>
        </p:nvSpPr>
        <p:spPr>
          <a:xfrm>
            <a:off x="4572000" y="3749040"/>
            <a:ext cx="2377440" cy="0"/>
          </a:xfrm>
          <a:prstGeom prst="line">
            <a:avLst/>
          </a:prstGeom>
          <a:noFill/>
          <a:ln w="12700">
            <a:solidFill>
              <a:srgbClr val="3341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388620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неделю преподаватель тратит на ручную подготовку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38160" y="246888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2A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6000" dirty="0"/>
          </a:p>
        </p:txBody>
      </p:sp>
      <p:sp>
        <p:nvSpPr>
          <p:cNvPr id="11" name="Shape 9"/>
          <p:cNvSpPr/>
          <p:nvPr/>
        </p:nvSpPr>
        <p:spPr>
          <a:xfrm>
            <a:off x="8183880" y="3749040"/>
            <a:ext cx="2377440" cy="0"/>
          </a:xfrm>
          <a:prstGeom prst="line">
            <a:avLst/>
          </a:prstGeom>
          <a:noFill/>
          <a:ln w="12700">
            <a:solidFill>
              <a:srgbClr val="3341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83880" y="388620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отличий от соседнего центра в глазах родителя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СДВИГ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1280160" cy="0"/>
          </a:xfrm>
          <a:prstGeom prst="line">
            <a:avLst/>
          </a:prstGeom>
          <a:noFill/>
          <a:ln w="31750">
            <a:solidFill>
              <a:srgbClr val="C2A0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554480"/>
            <a:ext cx="10332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Впервые персонализация подготовки доступна в масштабе всего центра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4297680"/>
            <a:ext cx="9875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56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То, что прежде требовало штата репетиторов, теперь выполняет искусственный интеллект: уроки, тесты и рекомендации под каждого ученика формируются за минуты.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00584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получает ваш центр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914400" y="21488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C2A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965960" y="219456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Уроки за две минуты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965960" y="2715768"/>
            <a:ext cx="4160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6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Преподаватель задаёт тему — система формирует полный урок с теорией, формулами и проверочным тестом.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263640" y="21488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C2A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315200" y="219456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Видимость отставания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315200" y="2715768"/>
            <a:ext cx="4160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6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 по каждому ученику и классу: слабые темы и риски — заблаговременно, а не после экзамена.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429768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C2A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965960" y="43434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Доверие родителей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965960" y="4864608"/>
            <a:ext cx="4160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6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Прозрачные отчёты о прогрессе ребёнка формируются автоматически и повышают удержание.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263640" y="429768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C2A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7315200" y="43434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Ваш бренд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315200" y="4864608"/>
            <a:ext cx="4160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6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Платформа в фирменном стиле центра — современный, технологичный образ.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РАБОТАЕТ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00584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Четыре шага — от темы до результата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914400" y="23774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i="1" dirty="0">
                <a:solidFill>
                  <a:srgbClr val="C2A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000" dirty="0"/>
          </a:p>
        </p:txBody>
      </p:sp>
      <p:sp>
        <p:nvSpPr>
          <p:cNvPr id="5" name="Shape 3"/>
          <p:cNvSpPr/>
          <p:nvPr/>
        </p:nvSpPr>
        <p:spPr>
          <a:xfrm>
            <a:off x="914400" y="3429000"/>
            <a:ext cx="2103120" cy="0"/>
          </a:xfrm>
          <a:prstGeom prst="line">
            <a:avLst/>
          </a:prstGeom>
          <a:noFill/>
          <a:ln w="12700">
            <a:solidFill>
              <a:srgbClr val="D9D3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611880"/>
            <a:ext cx="2331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Преподаватель формирует урок за две минуты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154680" y="25146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6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11880" y="23774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i="1" dirty="0">
                <a:solidFill>
                  <a:srgbClr val="C2A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000" dirty="0"/>
          </a:p>
        </p:txBody>
      </p:sp>
      <p:sp>
        <p:nvSpPr>
          <p:cNvPr id="9" name="Shape 7"/>
          <p:cNvSpPr/>
          <p:nvPr/>
        </p:nvSpPr>
        <p:spPr>
          <a:xfrm>
            <a:off x="3611880" y="3429000"/>
            <a:ext cx="2103120" cy="0"/>
          </a:xfrm>
          <a:prstGeom prst="line">
            <a:avLst/>
          </a:prstGeom>
          <a:noFill/>
          <a:ln w="12700">
            <a:solidFill>
              <a:srgbClr val="D9D3C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3611880"/>
            <a:ext cx="2331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Ученик изучает теорию и проходит тест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852160" y="25146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6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309360" y="23774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i="1" dirty="0">
                <a:solidFill>
                  <a:srgbClr val="C2A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000" dirty="0"/>
          </a:p>
        </p:txBody>
      </p:sp>
      <p:sp>
        <p:nvSpPr>
          <p:cNvPr id="13" name="Shape 11"/>
          <p:cNvSpPr/>
          <p:nvPr/>
        </p:nvSpPr>
        <p:spPr>
          <a:xfrm>
            <a:off x="6309360" y="3429000"/>
            <a:ext cx="2103120" cy="0"/>
          </a:xfrm>
          <a:prstGeom prst="line">
            <a:avLst/>
          </a:prstGeom>
          <a:noFill/>
          <a:ln w="12700">
            <a:solidFill>
              <a:srgbClr val="D9D3C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3611880"/>
            <a:ext cx="2331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оценивает результат автоматически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49640" y="25146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6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006840" y="23774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i="1" dirty="0">
                <a:solidFill>
                  <a:srgbClr val="C2A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000" dirty="0"/>
          </a:p>
        </p:txBody>
      </p:sp>
      <p:sp>
        <p:nvSpPr>
          <p:cNvPr id="17" name="Shape 15"/>
          <p:cNvSpPr/>
          <p:nvPr/>
        </p:nvSpPr>
        <p:spPr>
          <a:xfrm>
            <a:off x="9006840" y="3429000"/>
            <a:ext cx="2103120" cy="0"/>
          </a:xfrm>
          <a:prstGeom prst="line">
            <a:avLst/>
          </a:prstGeom>
          <a:noFill/>
          <a:ln w="12700">
            <a:solidFill>
              <a:srgbClr val="D9D3C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06840" y="3611880"/>
            <a:ext cx="2331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Директор видит аналитику в реальном времени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20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8C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ОХВАТ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Полное покрытие рынка Казахстана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60120" y="3172968"/>
            <a:ext cx="146304" cy="146304"/>
          </a:xfrm>
          <a:prstGeom prst="diamond">
            <a:avLst/>
          </a:prstGeom>
          <a:solidFill>
            <a:srgbClr val="C2A05A"/>
          </a:solidFill>
          <a:ln/>
        </p:spPr>
      </p:sp>
      <p:sp>
        <p:nvSpPr>
          <p:cNvPr id="5" name="Text 3"/>
          <p:cNvSpPr/>
          <p:nvPr/>
        </p:nvSpPr>
        <p:spPr>
          <a:xfrm>
            <a:off x="1417320" y="2971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Русский и казахский язык — более 60% учеников сдают ЕНТ на казахском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960120" y="4014216"/>
            <a:ext cx="146304" cy="146304"/>
          </a:xfrm>
          <a:prstGeom prst="diamond">
            <a:avLst/>
          </a:prstGeom>
          <a:solidFill>
            <a:srgbClr val="C2A05A"/>
          </a:solidFill>
          <a:ln/>
        </p:spPr>
      </p:sp>
      <p:sp>
        <p:nvSpPr>
          <p:cNvPr id="7" name="Text 5"/>
          <p:cNvSpPr/>
          <p:nvPr/>
        </p:nvSpPr>
        <p:spPr>
          <a:xfrm>
            <a:off x="1417320" y="381304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предметы ЕНТ и профильные пары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960120" y="4855464"/>
            <a:ext cx="146304" cy="146304"/>
          </a:xfrm>
          <a:prstGeom prst="diamond">
            <a:avLst/>
          </a:prstGeom>
          <a:solidFill>
            <a:srgbClr val="C2A05A"/>
          </a:solidFill>
          <a:ln/>
        </p:spPr>
      </p:sp>
      <p:sp>
        <p:nvSpPr>
          <p:cNvPr id="9" name="Text 7"/>
          <p:cNvSpPr/>
          <p:nvPr/>
        </p:nvSpPr>
        <p:spPr>
          <a:xfrm>
            <a:off x="1417320" y="4654296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Пробные экзамены в реальном формате: 120 вопросов, таймер</a:t>
            </a:r>
            <a:endParaRPr lang="en-US" sz="1850" dirty="0"/>
          </a:p>
        </p:txBody>
      </p:sp>
      <p:sp>
        <p:nvSpPr>
          <p:cNvPr id="10" name="Shape 8"/>
          <p:cNvSpPr/>
          <p:nvPr/>
        </p:nvSpPr>
        <p:spPr>
          <a:xfrm>
            <a:off x="960120" y="5696712"/>
            <a:ext cx="146304" cy="146304"/>
          </a:xfrm>
          <a:prstGeom prst="diamond">
            <a:avLst/>
          </a:prstGeom>
          <a:solidFill>
            <a:srgbClr val="C2A05A"/>
          </a:solidFill>
          <a:ln/>
        </p:spPr>
      </p:sp>
      <p:sp>
        <p:nvSpPr>
          <p:cNvPr id="11" name="Text 9"/>
          <p:cNvSpPr/>
          <p:nvPr/>
        </p:nvSpPr>
        <p:spPr>
          <a:xfrm>
            <a:off x="1417320" y="5495544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ИИ-наставник Skylla отвечает ученикам круглосуточно</a:t>
            </a:r>
            <a:endParaRPr lang="en-US" sz="1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ДОКАЗАТЕЛЬСТВО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00584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Это работает уже сегодня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C2A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31+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960120" y="3200400"/>
            <a:ext cx="2194560" cy="0"/>
          </a:xfrm>
          <a:prstGeom prst="line">
            <a:avLst/>
          </a:prstGeom>
          <a:noFill/>
          <a:ln w="12700">
            <a:solidFill>
              <a:srgbClr val="D9D3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3310128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6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готовых уроков в библиотеке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434840" y="201168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C2A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</a:t>
            </a:r>
            <a:endParaRPr lang="en-US" sz="5600" dirty="0"/>
          </a:p>
        </p:txBody>
      </p:sp>
      <p:sp>
        <p:nvSpPr>
          <p:cNvPr id="8" name="Shape 6"/>
          <p:cNvSpPr/>
          <p:nvPr/>
        </p:nvSpPr>
        <p:spPr>
          <a:xfrm>
            <a:off x="4480560" y="3200400"/>
            <a:ext cx="2194560" cy="0"/>
          </a:xfrm>
          <a:prstGeom prst="line">
            <a:avLst/>
          </a:prstGeom>
          <a:noFill/>
          <a:ln w="12700">
            <a:solidFill>
              <a:srgbClr val="D9D3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3310128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6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вопросов в пробном ЕНТ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955280" y="201168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C2A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600" dirty="0"/>
          </a:p>
        </p:txBody>
      </p:sp>
      <p:sp>
        <p:nvSpPr>
          <p:cNvPr id="11" name="Shape 9"/>
          <p:cNvSpPr/>
          <p:nvPr/>
        </p:nvSpPr>
        <p:spPr>
          <a:xfrm>
            <a:off x="8001000" y="3200400"/>
            <a:ext cx="2194560" cy="0"/>
          </a:xfrm>
          <a:prstGeom prst="line">
            <a:avLst/>
          </a:prstGeom>
          <a:noFill/>
          <a:ln w="12700">
            <a:solidFill>
              <a:srgbClr val="D9D3C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01000" y="3310128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6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роли в единой системе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4572000"/>
            <a:ext cx="10241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Живая аналитика центра по преподавателям и ученикам, автоматическая проверка тестов, уроки с математической вёрсткой формул — всё это мы покажем вживую на демонстрации.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D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8C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ВНЕДРЕНИЕ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05156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Запуск за один день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914400" y="2194560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C2A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664208" y="2258568"/>
            <a:ext cx="0" cy="457200"/>
          </a:xfrm>
          <a:prstGeom prst="line">
            <a:avLst/>
          </a:prstGeom>
          <a:noFill/>
          <a:ln w="12700">
            <a:solidFill>
              <a:srgbClr val="33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2194560"/>
            <a:ext cx="9509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Создаёте центр и приглашаете преподавателей по коду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154680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C2A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664208" y="3218688"/>
            <a:ext cx="0" cy="457200"/>
          </a:xfrm>
          <a:prstGeom prst="line">
            <a:avLst/>
          </a:prstGeom>
          <a:noFill/>
          <a:ln w="12700">
            <a:solidFill>
              <a:srgbClr val="3341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20240" y="3154680"/>
            <a:ext cx="9509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Преподаватели формируют классы, ученики входят по коду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4114800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C2A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1664208" y="4178808"/>
            <a:ext cx="0" cy="457200"/>
          </a:xfrm>
          <a:prstGeom prst="line">
            <a:avLst/>
          </a:prstGeom>
          <a:noFill/>
          <a:ln w="12700">
            <a:solidFill>
              <a:srgbClr val="3341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4114800"/>
            <a:ext cx="9509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Готовая библиотека уроков и пробных экзаменов — сразу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5074920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C2A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1664208" y="5138928"/>
            <a:ext cx="0" cy="457200"/>
          </a:xfrm>
          <a:prstGeom prst="line">
            <a:avLst/>
          </a:prstGeom>
          <a:noFill/>
          <a:ln w="12700">
            <a:solidFill>
              <a:srgbClr val="3341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20240" y="5074920"/>
            <a:ext cx="9509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Директор видит аналитику центра с первого дня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00584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Начало сотрудничества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914400" y="1920240"/>
            <a:ext cx="10332720" cy="1783080"/>
          </a:xfrm>
          <a:prstGeom prst="rect">
            <a:avLst/>
          </a:prstGeom>
          <a:solidFill>
            <a:srgbClr val="FBFAF5"/>
          </a:solidFill>
          <a:ln w="15875">
            <a:solidFill>
              <a:srgbClr val="C2A0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20240"/>
            <a:ext cx="109728" cy="1783080"/>
          </a:xfrm>
          <a:prstGeom prst="rect">
            <a:avLst/>
          </a:prstGeom>
          <a:solidFill>
            <a:srgbClr val="C2A05A"/>
          </a:solidFill>
          <a:ln/>
        </p:spPr>
      </p:sp>
      <p:sp>
        <p:nvSpPr>
          <p:cNvPr id="6" name="Text 4"/>
          <p:cNvSpPr/>
          <p:nvPr/>
        </p:nvSpPr>
        <p:spPr>
          <a:xfrm>
            <a:off x="1325880" y="214884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Бесплатный пилот на одну группу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25880" y="2743200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56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Запускаем на одной группе и в течение месяца замеряем рост баллов пробного ЕНТ. Оплата — только при подтверждённом результате.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60120" y="4178808"/>
            <a:ext cx="146304" cy="146304"/>
          </a:xfrm>
          <a:prstGeom prst="diamond">
            <a:avLst/>
          </a:prstGeom>
          <a:solidFill>
            <a:srgbClr val="C2A05A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406908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пилота — оплата за ученика в месяц или пакет на центр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960120" y="4745736"/>
            <a:ext cx="146304" cy="146304"/>
          </a:xfrm>
          <a:prstGeom prst="diamond">
            <a:avLst/>
          </a:prstGeom>
          <a:solidFill>
            <a:srgbClr val="C2A05A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4636008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White-label, аналитика и безлимитная генерация уроков во всех тарифах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960120" y="5312664"/>
            <a:ext cx="146304" cy="146304"/>
          </a:xfrm>
          <a:prstGeom prst="diamond">
            <a:avLst/>
          </a:prstGeom>
          <a:solidFill>
            <a:srgbClr val="C2A05A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5202936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 через Kaspi · счёт-фактура по БИН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20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194560"/>
            <a:ext cx="1280160" cy="0"/>
          </a:xfrm>
          <a:prstGeom prst="line">
            <a:avLst/>
          </a:prstGeom>
          <a:noFill/>
          <a:ln w="31750">
            <a:solidFill>
              <a:srgbClr val="C2A0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331720"/>
            <a:ext cx="10424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Запустим пилот</a:t>
            </a:r>
            <a:endParaRPr lang="en-US" sz="44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 этой неделе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914400" y="4343400"/>
            <a:ext cx="4297680" cy="822960"/>
          </a:xfrm>
          <a:prstGeom prst="rect">
            <a:avLst/>
          </a:prstGeom>
          <a:solidFill>
            <a:srgbClr val="C2A05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434340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Назначить демонстрацию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5577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spc="100" kern="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+7 707 588 4651   ·   study-hub-karakat.vercel.app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StudyHub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StudyHub</dc:creator>
  <cp:lastModifiedBy>StudyHub</cp:lastModifiedBy>
  <cp:revision>1</cp:revision>
  <dcterms:created xsi:type="dcterms:W3CDTF">2026-05-29T10:59:46Z</dcterms:created>
  <dcterms:modified xsi:type="dcterms:W3CDTF">2026-05-29T10:59:46Z</dcterms:modified>
</cp:coreProperties>
</file>