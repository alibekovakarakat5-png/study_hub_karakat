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6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4754880" cy="4754880"/>
          </a:xfrm>
          <a:prstGeom prst="ellipse">
            <a:avLst/>
          </a:prstGeom>
          <a:solidFill>
            <a:srgbClr val="7C3AED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4206240"/>
            <a:ext cx="4206240" cy="4206240"/>
          </a:xfrm>
          <a:prstGeom prst="ellipse">
            <a:avLst/>
          </a:prstGeom>
          <a:solidFill>
            <a:srgbClr val="2563EB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64008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Study</a:t>
            </a:r>
            <a:pPr indent="0" marL="0">
              <a:buNone/>
            </a:pPr>
            <a:r>
              <a:rPr lang="en-US" sz="3000" b="1" dirty="0">
                <a:solidFill>
                  <a:srgbClr val="C7D2F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Hub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 для учебных центров:</a:t>
            </a:r>
            <a:endParaRPr lang="en-US" sz="4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выше баллы ЕНТ, меньше нагрузка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22960" y="44805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7D2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Платформа подготовки к ЕНТ и IELTS под брендом вашего центра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5943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Питч для учебных центров • Казахстан •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ПРОБЛЕМА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097280"/>
            <a:ext cx="10424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Родители платят за результат.</a:t>
            </a:r>
            <a:endParaRPr lang="en-US" sz="3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А вы узнаёте, что ученик отстаёт — когда уже поздно.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22960" y="3383280"/>
            <a:ext cx="676656" cy="676656"/>
          </a:xfrm>
          <a:prstGeom prst="ellipse">
            <a:avLst/>
          </a:prstGeom>
          <a:solidFill>
            <a:srgbClr val="FEE2E2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3383280"/>
            <a:ext cx="676656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24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💸</a:t>
            </a:r>
            <a:endParaRPr lang="en-US" sz="1924" dirty="0"/>
          </a:p>
        </p:txBody>
      </p:sp>
      <p:sp>
        <p:nvSpPr>
          <p:cNvPr id="6" name="Text 4"/>
          <p:cNvSpPr/>
          <p:nvPr/>
        </p:nvSpPr>
        <p:spPr>
          <a:xfrm>
            <a:off x="1691640" y="3383280"/>
            <a:ext cx="95097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Репетиторы и материалы — дорого, а качество разное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822960" y="4343400"/>
            <a:ext cx="676656" cy="676656"/>
          </a:xfrm>
          <a:prstGeom prst="ellipse">
            <a:avLst/>
          </a:prstGeom>
          <a:solidFill>
            <a:srgbClr val="FEF3C7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4343400"/>
            <a:ext cx="676656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24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😵</a:t>
            </a:r>
            <a:endParaRPr lang="en-US" sz="1924" dirty="0"/>
          </a:p>
        </p:txBody>
      </p:sp>
      <p:sp>
        <p:nvSpPr>
          <p:cNvPr id="9" name="Text 7"/>
          <p:cNvSpPr/>
          <p:nvPr/>
        </p:nvSpPr>
        <p:spPr>
          <a:xfrm>
            <a:off x="1691640" y="4343400"/>
            <a:ext cx="95097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Учителя тратят часы на подготовку и выгорают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822960" y="5303520"/>
            <a:ext cx="676656" cy="676656"/>
          </a:xfrm>
          <a:prstGeom prst="ellipse">
            <a:avLst/>
          </a:prstGeom>
          <a:solidFill>
            <a:srgbClr val="E0E7FF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5303520"/>
            <a:ext cx="676656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24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🤷</a:t>
            </a:r>
            <a:endParaRPr lang="en-US" sz="1924" dirty="0"/>
          </a:p>
        </p:txBody>
      </p:sp>
      <p:sp>
        <p:nvSpPr>
          <p:cNvPr id="12" name="Text 10"/>
          <p:cNvSpPr/>
          <p:nvPr/>
        </p:nvSpPr>
        <p:spPr>
          <a:xfrm>
            <a:off x="1691640" y="5303520"/>
            <a:ext cx="95097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Нет ранней картины: кто отстаёт и по какой теме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5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3152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Во что обходится бездействие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822960" y="2286000"/>
            <a:ext cx="3383280" cy="3108960"/>
          </a:xfrm>
          <a:prstGeom prst="roundRect">
            <a:avLst>
              <a:gd name="adj" fmla="val 4706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651760"/>
            <a:ext cx="3383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−25%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1051560" y="384048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удержание: ученики уходят, не увидев прогресса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26280" y="2286000"/>
            <a:ext cx="3383280" cy="3108960"/>
          </a:xfrm>
          <a:prstGeom prst="roundRect">
            <a:avLst>
              <a:gd name="adj" fmla="val 4706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26280" y="2651760"/>
            <a:ext cx="3383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10+ ч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4754880" y="384048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 неделю учитель тратит на ручную подготовку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229600" y="2286000"/>
            <a:ext cx="3383280" cy="3108960"/>
          </a:xfrm>
          <a:prstGeom prst="roundRect">
            <a:avLst>
              <a:gd name="adj" fmla="val 4706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0" y="2651760"/>
            <a:ext cx="3383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=</a:t>
            </a:r>
            <a:endParaRPr lang="en-US" sz="5200" dirty="0"/>
          </a:p>
        </p:txBody>
      </p:sp>
      <p:sp>
        <p:nvSpPr>
          <p:cNvPr id="11" name="Text 9"/>
          <p:cNvSpPr/>
          <p:nvPr/>
        </p:nvSpPr>
        <p:spPr>
          <a:xfrm>
            <a:off x="8458200" y="384048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«как все»: нечем отличиться от соседнего центра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8229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СДВИГ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371600"/>
            <a:ext cx="104241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40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 впервые даёт персонализацию подготовки в масштабе центра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420624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То, что раньше требовало армии репетиторов, теперь делает искусственный интеллект: уроки, тесты и рекомендации под каждого ученика — за минуты, а не часы.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Что получает ваш центр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600200"/>
            <a:ext cx="512064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43000" y="1920240"/>
            <a:ext cx="713232" cy="713232"/>
          </a:xfrm>
          <a:prstGeom prst="ellipse">
            <a:avLst/>
          </a:prstGeom>
          <a:solidFill>
            <a:srgbClr val="DBEAFE"/>
          </a:solidFill>
          <a:ln/>
        </p:spPr>
      </p:sp>
      <p:sp>
        <p:nvSpPr>
          <p:cNvPr id="5" name="Text 3"/>
          <p:cNvSpPr/>
          <p:nvPr/>
        </p:nvSpPr>
        <p:spPr>
          <a:xfrm>
            <a:off x="1143000" y="1920240"/>
            <a:ext cx="7132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28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✨</a:t>
            </a:r>
            <a:endParaRPr lang="en-US" sz="2028" dirty="0"/>
          </a:p>
        </p:txBody>
      </p:sp>
      <p:sp>
        <p:nvSpPr>
          <p:cNvPr id="6" name="Text 4"/>
          <p:cNvSpPr/>
          <p:nvPr/>
        </p:nvSpPr>
        <p:spPr>
          <a:xfrm>
            <a:off x="2057400" y="1984248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AI-уроки за 2 минуты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057400" y="2514600"/>
            <a:ext cx="3703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Учитель описывает тему — AI пишет полный урок с теорией, формулами и тестом. Контент не кончается.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63640" y="1600200"/>
            <a:ext cx="512064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83680" y="1920240"/>
            <a:ext cx="713232" cy="713232"/>
          </a:xfrm>
          <a:prstGeom prst="ellipse">
            <a:avLst/>
          </a:prstGeom>
          <a:solidFill>
            <a:srgbClr val="EDE9FE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1920240"/>
            <a:ext cx="7132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28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📊</a:t>
            </a:r>
            <a:endParaRPr lang="en-US" sz="2028" dirty="0"/>
          </a:p>
        </p:txBody>
      </p:sp>
      <p:sp>
        <p:nvSpPr>
          <p:cNvPr id="11" name="Text 9"/>
          <p:cNvSpPr/>
          <p:nvPr/>
        </p:nvSpPr>
        <p:spPr>
          <a:xfrm>
            <a:off x="7498080" y="1984248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Видно, кто отстаёт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498080" y="2514600"/>
            <a:ext cx="3703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Аналитика по каждому ученику и классу: слабые темы, баллы, риск — за недели до экзамена.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2960" y="3931920"/>
            <a:ext cx="512064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143000" y="4251960"/>
            <a:ext cx="713232" cy="713232"/>
          </a:xfrm>
          <a:prstGeom prst="ellipse">
            <a:avLst/>
          </a:prstGeom>
          <a:solidFill>
            <a:srgbClr val="DBEAFE"/>
          </a:solidFill>
          <a:ln/>
        </p:spPr>
      </p:sp>
      <p:sp>
        <p:nvSpPr>
          <p:cNvPr id="15" name="Text 13"/>
          <p:cNvSpPr/>
          <p:nvPr/>
        </p:nvSpPr>
        <p:spPr>
          <a:xfrm>
            <a:off x="1143000" y="4251960"/>
            <a:ext cx="7132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28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👨‍👩‍👧</a:t>
            </a:r>
            <a:endParaRPr lang="en-US" sz="2028" dirty="0"/>
          </a:p>
        </p:txBody>
      </p:sp>
      <p:sp>
        <p:nvSpPr>
          <p:cNvPr id="16" name="Text 14"/>
          <p:cNvSpPr/>
          <p:nvPr/>
        </p:nvSpPr>
        <p:spPr>
          <a:xfrm>
            <a:off x="2057400" y="4315968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Отчёты родителям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057400" y="4846320"/>
            <a:ext cx="3703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Прозрачный прогресс ребёнка автоматически — выше доверие и удержание.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263640" y="3931920"/>
            <a:ext cx="512064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583680" y="4251960"/>
            <a:ext cx="713232" cy="713232"/>
          </a:xfrm>
          <a:prstGeom prst="ellipse">
            <a:avLst/>
          </a:prstGeom>
          <a:solidFill>
            <a:srgbClr val="EDE9FE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0" y="4251960"/>
            <a:ext cx="7132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28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🏷️</a:t>
            </a:r>
            <a:endParaRPr lang="en-US" sz="2028" dirty="0"/>
          </a:p>
        </p:txBody>
      </p:sp>
      <p:sp>
        <p:nvSpPr>
          <p:cNvPr id="21" name="Text 19"/>
          <p:cNvSpPr/>
          <p:nvPr/>
        </p:nvSpPr>
        <p:spPr>
          <a:xfrm>
            <a:off x="7498080" y="4315968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White-label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498080" y="4846320"/>
            <a:ext cx="3703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Платформа под брендом и цветами вашего центра — выглядите технологично.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Как это работает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2194560"/>
            <a:ext cx="2468880" cy="2743200"/>
          </a:xfrm>
          <a:prstGeom prst="roundRect">
            <a:avLst>
              <a:gd name="adj" fmla="val 518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91640" y="1828800"/>
            <a:ext cx="731520" cy="7315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5" name="Text 3"/>
          <p:cNvSpPr/>
          <p:nvPr/>
        </p:nvSpPr>
        <p:spPr>
          <a:xfrm>
            <a:off x="1691640" y="18288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22960" y="283464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✨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960120" y="3657600"/>
            <a:ext cx="21945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Учитель генерит урок за 2 мин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18688" y="31089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611880" y="2194560"/>
            <a:ext cx="2468880" cy="2743200"/>
          </a:xfrm>
          <a:prstGeom prst="roundRect">
            <a:avLst>
              <a:gd name="adj" fmla="val 518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80560" y="1828800"/>
            <a:ext cx="731520" cy="7315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1" name="Text 9"/>
          <p:cNvSpPr/>
          <p:nvPr/>
        </p:nvSpPr>
        <p:spPr>
          <a:xfrm>
            <a:off x="4480560" y="18288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611880" y="283464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📖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3749040" y="3657600"/>
            <a:ext cx="21945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Ученик читает теорию и решает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007608" y="31089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6400800" y="2194560"/>
            <a:ext cx="2468880" cy="2743200"/>
          </a:xfrm>
          <a:prstGeom prst="roundRect">
            <a:avLst>
              <a:gd name="adj" fmla="val 518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69480" y="1828800"/>
            <a:ext cx="731520" cy="7315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7" name="Text 15"/>
          <p:cNvSpPr/>
          <p:nvPr/>
        </p:nvSpPr>
        <p:spPr>
          <a:xfrm>
            <a:off x="7269480" y="18288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400800" y="283464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6537960" y="3657600"/>
            <a:ext cx="21945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Авто-оценка квиза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796528" y="31089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9189720" y="2194560"/>
            <a:ext cx="2468880" cy="2743200"/>
          </a:xfrm>
          <a:prstGeom prst="roundRect">
            <a:avLst>
              <a:gd name="adj" fmla="val 518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58400" y="1828800"/>
            <a:ext cx="731520" cy="7315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0" y="18288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9189720" y="283464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📈</a:t>
            </a:r>
            <a:endParaRPr lang="en-US" sz="4000" dirty="0"/>
          </a:p>
        </p:txBody>
      </p:sp>
      <p:sp>
        <p:nvSpPr>
          <p:cNvPr id="25" name="Text 23"/>
          <p:cNvSpPr/>
          <p:nvPr/>
        </p:nvSpPr>
        <p:spPr>
          <a:xfrm>
            <a:off x="9326880" y="3657600"/>
            <a:ext cx="21945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Директор видит аналитику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6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4023360"/>
            <a:ext cx="4023360" cy="4023360"/>
          </a:xfrm>
          <a:prstGeom prst="ellipse">
            <a:avLst/>
          </a:prstGeom>
          <a:solidFill>
            <a:srgbClr val="2563EB">
              <a:alpha val="3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82296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Полный охват рынка Казахстана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651760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16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🇰🇿</a:t>
            </a:r>
            <a:endParaRPr lang="en-US" sz="1716" dirty="0"/>
          </a:p>
        </p:txBody>
      </p:sp>
      <p:sp>
        <p:nvSpPr>
          <p:cNvPr id="6" name="Text 4"/>
          <p:cNvSpPr/>
          <p:nvPr/>
        </p:nvSpPr>
        <p:spPr>
          <a:xfrm>
            <a:off x="1600200" y="2651760"/>
            <a:ext cx="93268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Русский + Казахский — 60%+ сдают ЕНТ на казахском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3566160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3566160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16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📚</a:t>
            </a:r>
            <a:endParaRPr lang="en-US" sz="1716" dirty="0"/>
          </a:p>
        </p:txBody>
      </p:sp>
      <p:sp>
        <p:nvSpPr>
          <p:cNvPr id="9" name="Text 7"/>
          <p:cNvSpPr/>
          <p:nvPr/>
        </p:nvSpPr>
        <p:spPr>
          <a:xfrm>
            <a:off x="1600200" y="3566160"/>
            <a:ext cx="93268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Все предметы ЕНТ + профильные пары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22960" y="4480560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480560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16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📝</a:t>
            </a:r>
            <a:endParaRPr lang="en-US" sz="1716" dirty="0"/>
          </a:p>
        </p:txBody>
      </p:sp>
      <p:sp>
        <p:nvSpPr>
          <p:cNvPr id="12" name="Text 10"/>
          <p:cNvSpPr/>
          <p:nvPr/>
        </p:nvSpPr>
        <p:spPr>
          <a:xfrm>
            <a:off x="1600200" y="4480560"/>
            <a:ext cx="93268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Пробные ЕНТ в реальном формате (120 вопросов, таймер)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822960" y="5394960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5394960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16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🤖</a:t>
            </a:r>
            <a:endParaRPr lang="en-US" sz="1716" dirty="0"/>
          </a:p>
        </p:txBody>
      </p:sp>
      <p:sp>
        <p:nvSpPr>
          <p:cNvPr id="15" name="Text 13"/>
          <p:cNvSpPr/>
          <p:nvPr/>
        </p:nvSpPr>
        <p:spPr>
          <a:xfrm>
            <a:off x="1600200" y="5394960"/>
            <a:ext cx="93268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AI-репетитор Skylla — отвечает ученикам 24/7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Доказательство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737360"/>
            <a:ext cx="329184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96596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31+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1005840" y="292608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готовых AI-уроков в библиотеке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434840" y="1737360"/>
            <a:ext cx="329184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34840" y="196596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120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617720" y="292608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вопросов в пробном ЕНТ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046720" y="1737360"/>
            <a:ext cx="329184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0" y="196596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8229600" y="292608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роли в одной системе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4206240"/>
            <a:ext cx="102412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Живой дашборд центра: реальная аналитика по учителям и ученикам, кто отстаёт — подсвечено. Уроки с формулами (KaTeX), авто-проверка тестов. Всё работает — покажем вживую на демо.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Запуск за 1 день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828800"/>
            <a:ext cx="640080" cy="640080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288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645920" y="182880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Создаёте центр и приглашаете учителей по коду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822960" y="2880360"/>
            <a:ext cx="640080" cy="640080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880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45920" y="288036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Учителя заводят классы, ученики входят по коду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822960" y="3931920"/>
            <a:ext cx="640080" cy="640080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931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645920" y="393192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Готовая библиотека уроков и пробных ЕНТ — сразу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822960" y="4983480"/>
            <a:ext cx="640080" cy="640080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9834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45920" y="498348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Директор видит аналитику центра с первого дня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Условия и старт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645920"/>
            <a:ext cx="10515600" cy="18288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9050">
            <a:solidFill>
              <a:srgbClr val="16A3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87452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A34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🎁 Бесплатный пилот на 1 группу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0" y="2514600"/>
            <a:ext cx="9875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Запускаем на одной группе, замеряем рост баллов пробного ЕНТ за месяц. Платите — только если видите результат.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374904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После пилота: оплата за ученика в месяц (per-seat) или пакет на центр</a:t>
            </a:r>
            <a:endParaRPr lang="en-US" sz="1600" dirty="0"/>
          </a:p>
          <a:p>
            <a:pPr marL="228600" indent="-2286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White-label, аналитика, безлимит AI-уроков — во всех тарифах</a:t>
            </a:r>
            <a:endParaRPr lang="en-US" sz="1600" dirty="0"/>
          </a:p>
          <a:p>
            <a:pPr marL="228600" indent="-2286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Оплата через Kaspi • счёт-фактура по БИН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6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3291840"/>
            <a:ext cx="5486400" cy="5486400"/>
          </a:xfrm>
          <a:prstGeom prst="ellipse">
            <a:avLst/>
          </a:prstGeom>
          <a:solidFill>
            <a:srgbClr val="7C3AED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82880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Запустим пилот</a:t>
            </a:r>
            <a:endParaRPr lang="en-US" sz="44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на этой неделе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822960" y="3840480"/>
            <a:ext cx="4572000" cy="868680"/>
          </a:xfrm>
          <a:prstGeom prst="roundRect">
            <a:avLst>
              <a:gd name="adj" fmla="val 52632"/>
            </a:avLst>
          </a:prstGeom>
          <a:solidFill>
            <a:srgbClr val="2563E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3840480"/>
            <a:ext cx="4572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Договориться о демо →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5120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2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WhatsApp +7 707 588 4651 • study-hub-karakat.vercel.app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StudyHub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StudyHub</dc:creator>
  <cp:lastModifiedBy>StudyHub</cp:lastModifiedBy>
  <cp:revision>1</cp:revision>
  <dcterms:created xsi:type="dcterms:W3CDTF">2026-05-29T10:13:07Z</dcterms:created>
  <dcterms:modified xsi:type="dcterms:W3CDTF">2026-05-29T10:13:07Z</dcterms:modified>
</cp:coreProperties>
</file>